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67" y="228600"/>
            <a:ext cx="747776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NEGÓCIO DE SITES SOB MEDIDA</a:t>
            </a:r>
          </a:p>
          <a:p>
            <a:pPr algn="l">
              <a:spcBef>
                <a:spcPts val="400"/>
              </a:spcBef>
            </a:pPr>
            <a:r>
              <a:rPr sz="2600" b="0" i="0">
                <a:solidFill>
                  <a:srgbClr val="10B981"/>
                </a:solidFill>
                <a:latin typeface="Calibri"/>
              </a:rPr>
              <a:t>para pequenos negócios locais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E0A82E"/>
                </a:solidFill>
                <a:latin typeface="Calibri"/>
              </a:rPr>
              <a:t>Uma sociedade Anderson Alves × Patrick Teixeira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O problema que todo pequeno negócio 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0B981"/>
                </a:solidFill>
                <a:latin typeface="Calibri"/>
              </a:rPr>
              <a:t>❌ </a:t>
            </a:r>
            <a:r>
              <a:rPr sz="2000" b="1" i="0">
                <a:solidFill>
                  <a:srgbClr val="162133"/>
                </a:solidFill>
                <a:latin typeface="Calibri"/>
              </a:rPr>
              <a:t>Invisível no Google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 i="0">
                <a:solidFill>
                  <a:srgbClr val="162133"/>
                </a:solidFill>
                <a:latin typeface="Calibri"/>
              </a:rPr>
              <a:t>O cliente procura no celular e não te acha.</a:t>
            </a:r>
          </a:p>
          <a:p>
            <a:pPr algn="l"/>
            <a:r>
              <a:rPr sz="2000" b="0" i="0">
                <a:solidFill>
                  <a:srgbClr val="10B981"/>
                </a:solidFill>
                <a:latin typeface="Calibri"/>
              </a:rPr>
              <a:t>❌ </a:t>
            </a:r>
            <a:r>
              <a:rPr sz="2000" b="1" i="0">
                <a:solidFill>
                  <a:srgbClr val="162133"/>
                </a:solidFill>
                <a:latin typeface="Calibri"/>
              </a:rPr>
              <a:t>Sem canal de contato direto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 i="0">
                <a:solidFill>
                  <a:srgbClr val="162133"/>
                </a:solidFill>
                <a:latin typeface="Calibri"/>
              </a:rPr>
              <a:t>Formulário que ninguém preenche. WhatsApp some.</a:t>
            </a:r>
          </a:p>
          <a:p>
            <a:pPr algn="l"/>
            <a:r>
              <a:rPr sz="2000" b="0" i="0">
                <a:solidFill>
                  <a:srgbClr val="10B981"/>
                </a:solidFill>
                <a:latin typeface="Calibri"/>
              </a:rPr>
              <a:t>❌ </a:t>
            </a:r>
            <a:r>
              <a:rPr sz="2000" b="1" i="0">
                <a:solidFill>
                  <a:srgbClr val="162133"/>
                </a:solidFill>
                <a:latin typeface="Calibri"/>
              </a:rPr>
              <a:t>Parece amador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 i="0">
                <a:solidFill>
                  <a:srgbClr val="162133"/>
                </a:solidFill>
                <a:latin typeface="Calibri"/>
              </a:rPr>
              <a:t>Site feito há 5 anos transmite desconfiança.</a:t>
            </a:r>
          </a:p>
          <a:p>
            <a:pPr algn="l"/>
            <a:r>
              <a:rPr sz="2000" b="0" i="0">
                <a:solidFill>
                  <a:srgbClr val="10B981"/>
                </a:solidFill>
                <a:latin typeface="Calibri"/>
              </a:rPr>
              <a:t>❌ </a:t>
            </a:r>
            <a:r>
              <a:rPr sz="2000" b="1" i="0">
                <a:solidFill>
                  <a:srgbClr val="162133"/>
                </a:solidFill>
                <a:latin typeface="Calibri"/>
              </a:rPr>
              <a:t>Concorrente leva o cliente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162133"/>
                </a:solidFill>
                <a:latin typeface="Calibri"/>
              </a:rPr>
              <a:t>Quem tem site bem feito ganha antes de abrir a porta.</a:t>
            </a:r>
          </a:p>
        </p:txBody>
      </p:sp>
      <p:pic>
        <p:nvPicPr>
          <p:cNvPr id="6" name="Picture 5" descr="antes-dep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A virada: um site que trabalha por você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5176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62133"/>
                </a:solidFill>
                <a:latin typeface="Calibri"/>
              </a:rPr>
              <a:t>Carrega em menos de 3s. Quem entra, fica.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5544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554480"/>
            <a:ext cx="265176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7452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603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62133"/>
                </a:solidFill>
                <a:latin typeface="Calibri"/>
              </a:rPr>
              <a:t>Botão grudado em todo lugar. Um toque fecha negócio.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5544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554480"/>
            <a:ext cx="265176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7452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No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5603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62133"/>
                </a:solidFill>
                <a:latin typeface="Calibri"/>
              </a:rPr>
              <a:t>Aparece na sua cidade. Cliente te acha sozinho.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5544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554480"/>
            <a:ext cx="265176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87452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0F1E3D"/>
                </a:solidFill>
                <a:latin typeface="Calibri"/>
              </a:rPr>
              <a:t>Credível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5603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62133"/>
                </a:solidFill>
                <a:latin typeface="Calibri"/>
              </a:rPr>
              <a:t>Visual profissional. Transmite confiança na hora.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Resultado: </a:t>
            </a:r>
            <a:r>
              <a:rPr sz="2000" b="1" i="0">
                <a:solidFill>
                  <a:srgbClr val="162133"/>
                </a:solidFill>
                <a:latin typeface="Calibri"/>
              </a:rPr>
              <a:t>o telefone toca, o cliente chega, a venda acontece.</a:t>
            </a:r>
          </a:p>
          <a:p>
            <a:pPr algn="l">
              <a:spcBef>
                <a:spcPts val="800"/>
              </a:spcBef>
            </a:pPr>
            <a:r>
              <a:rPr sz="1600" b="0" i="1">
                <a:solidFill>
                  <a:srgbClr val="0F1E3D"/>
                </a:solidFill>
                <a:latin typeface="Calibri"/>
              </a:rPr>
              <a:t>Não é 'ter um site'. É ter um vendedor que não dorme.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0F1E3D"/>
                </a:solidFill>
                <a:latin typeface="Calibri"/>
              </a:rPr>
              <a:t>Por que esse negócio dá retorno alto</a:t>
            </a:r>
          </a:p>
        </p:txBody>
      </p:sp>
      <p:pic>
        <p:nvPicPr>
          <p:cNvPr id="5" name="Picture 4" descr="recor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80160"/>
            <a:ext cx="49377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E0A82E"/>
                </a:solidFill>
                <a:latin typeface="Calibri"/>
              </a:rPr>
              <a:t>💰 </a:t>
            </a:r>
            <a:r>
              <a:rPr sz="1900" b="1" i="0">
                <a:solidFill>
                  <a:srgbClr val="162133"/>
                </a:solidFill>
                <a:latin typeface="Calibri"/>
              </a:rPr>
              <a:t>Receita recorrente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 i="0">
                <a:solidFill>
                  <a:srgbClr val="162133"/>
                </a:solidFill>
                <a:latin typeface="Calibri"/>
              </a:rPr>
              <a:t>Todo cliente paga todo mês: hospedagem + manutenção + tráfego.</a:t>
            </a:r>
          </a:p>
          <a:p>
            <a:pPr algn="l"/>
            <a:r>
              <a:rPr sz="1800" b="0" i="0">
                <a:solidFill>
                  <a:srgbClr val="E0A82E"/>
                </a:solidFill>
                <a:latin typeface="Calibri"/>
              </a:rPr>
              <a:t>📈 </a:t>
            </a:r>
            <a:r>
              <a:rPr sz="1900" b="1" i="0">
                <a:solidFill>
                  <a:srgbClr val="162133"/>
                </a:solidFill>
                <a:latin typeface="Calibri"/>
              </a:rPr>
              <a:t>Custo de aquisição baixo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 i="0">
                <a:solidFill>
                  <a:srgbClr val="162133"/>
                </a:solidFill>
                <a:latin typeface="Calibri"/>
              </a:rPr>
              <a:t>Pequeno negócio local é fácil de encontrar e convencer.</a:t>
            </a:r>
          </a:p>
          <a:p>
            <a:pPr algn="l"/>
            <a:r>
              <a:rPr sz="1800" b="0" i="0">
                <a:solidFill>
                  <a:srgbClr val="E0A82E"/>
                </a:solidFill>
                <a:latin typeface="Calibri"/>
              </a:rPr>
              <a:t>🔁 </a:t>
            </a:r>
            <a:r>
              <a:rPr sz="1900" b="1" i="0">
                <a:solidFill>
                  <a:srgbClr val="162133"/>
                </a:solidFill>
                <a:latin typeface="Calibri"/>
              </a:rPr>
              <a:t>Efeito composto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 i="0">
                <a:solidFill>
                  <a:srgbClr val="162133"/>
                </a:solidFill>
                <a:latin typeface="Calibri"/>
              </a:rPr>
              <a:t>10 clientes viraram 50 em meses. Renda previsível.</a:t>
            </a:r>
          </a:p>
          <a:p>
            <a:pPr algn="l"/>
            <a:r>
              <a:rPr sz="1800" b="0" i="0">
                <a:solidFill>
                  <a:srgbClr val="E0A82E"/>
                </a:solidFill>
                <a:latin typeface="Calibri"/>
              </a:rPr>
              <a:t>🤝 </a:t>
            </a:r>
            <a:r>
              <a:rPr sz="1900" b="1" i="0">
                <a:solidFill>
                  <a:srgbClr val="162133"/>
                </a:solidFill>
                <a:latin typeface="Calibri"/>
              </a:rPr>
              <a:t>Você não vende uma vez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62133"/>
                </a:solidFill>
                <a:latin typeface="Calibri"/>
              </a:rPr>
              <a:t>Você vende uma assinatura de crescimento.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E3D"/>
                </a:solidFill>
                <a:latin typeface="Calibri"/>
              </a:rPr>
              <a:t>Como funciona: simples de vender, simples de entregar</a:t>
            </a:r>
          </a:p>
        </p:txBody>
      </p:sp>
      <p:pic>
        <p:nvPicPr>
          <p:cNvPr id="5" name="Picture 4" descr="proce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10B981"/>
                </a:solidFill>
                <a:latin typeface="Calibri"/>
              </a:rPr>
              <a:t>1. Encontramos</a:t>
            </a:r>
            <a:r>
              <a:rPr sz="1600" b="0" i="0">
                <a:solidFill>
                  <a:srgbClr val="162133"/>
                </a:solidFill>
                <a:latin typeface="Calibri"/>
              </a:rPr>
              <a:t> — Mapeamos o negócio local e a dor dele.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10B981"/>
                </a:solidFill>
                <a:latin typeface="Calibri"/>
              </a:rPr>
              <a:t>2. Construímos</a:t>
            </a:r>
            <a:r>
              <a:rPr sz="1600" b="0" i="0">
                <a:solidFill>
                  <a:srgbClr val="162133"/>
                </a:solidFill>
                <a:latin typeface="Calibri"/>
              </a:rPr>
              <a:t> — Site sob medida com botão de WhatsApp e SEO local.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10B981"/>
                </a:solidFill>
                <a:latin typeface="Calibri"/>
              </a:rPr>
              <a:t>3. Crescemos</a:t>
            </a:r>
            <a:r>
              <a:rPr sz="1600" b="0" i="0">
                <a:solidFill>
                  <a:srgbClr val="162133"/>
                </a:solidFill>
                <a:latin typeface="Calibri"/>
              </a:rPr>
              <a:t> — Tráfego e leads recorrentes. Você fatura todo mês.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39496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0F1E3D"/>
                </a:solidFill>
                <a:latin typeface="Calibri"/>
              </a:rPr>
              <a:t>Sem código pra cliente ver. Sem burocracia.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sociedade: duas forças, um negócio</a:t>
            </a:r>
          </a:p>
        </p:txBody>
      </p:sp>
      <p:pic>
        <p:nvPicPr>
          <p:cNvPr id="5" name="Picture 4" descr="socie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97430"/>
            <a:ext cx="54864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Anderson —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Quem faz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Tech, criação de sites, operação e entrega.</a:t>
            </a:r>
          </a:p>
          <a:p>
            <a:pPr algn="l"/>
            <a:r>
              <a:rPr sz="1800" b="1" i="0">
                <a:solidFill>
                  <a:srgbClr val="E0A82E"/>
                </a:solidFill>
                <a:latin typeface="Calibri"/>
              </a:rPr>
              <a:t>Patrick —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Quem lidera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Vendas, relacionamento, visão de escala.</a:t>
            </a:r>
          </a:p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Juntos: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produção ágil + liderança que fecha.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Um fecha, o outro entrega. O cliente nem percebe a divisão.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F1E3D"/>
                </a:solidFill>
                <a:latin typeface="Calibri"/>
              </a:rPr>
              <a:t>Vamos fechar os 10 primeiros clientes?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Plano de 30 dias: lista de alvos locais, proposta pronta, primeiro site no ar.</a:t>
            </a:r>
          </a:p>
          <a:p>
            <a:pPr algn="ctr">
              <a:spcBef>
                <a:spcPts val="1000"/>
              </a:spcBef>
            </a:pPr>
            <a:r>
              <a:rPr sz="1600" b="0" i="1">
                <a:solidFill>
                  <a:srgbClr val="E0A82E"/>
                </a:solidFill>
                <a:latin typeface="Calibri"/>
              </a:rPr>
              <a:t>Daqui a 90 dias: renda recorrente rodando. Quer começar segunda?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